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3E62"/>
          </a:solidFill>
          <a:ln w="15240">
            <a:solidFill>
              <a:srgbClr val="008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AIRRESOLVE: AIRLINE DISRUPTION RESOLUTION AGENT</a:t>
            </a:r>
          </a:p>
          <a:p>
            <a:pPr>
              <a:spcBef>
                <a:spcPts val="1400"/>
              </a:spcBef>
              <a:defRPr sz="1800">
                <a:solidFill>
                  <a:srgbClr val="008DDA"/>
                </a:solidFill>
              </a:defRPr>
            </a:pPr>
            <a:r>
              <a:t>Individual Assignment 3: Customer-Facing Resolution Agent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A policy-grounded conversational agent with deterministic business rules, auditability, and guardrails.</a:t>
            </a:r>
          </a:p>
          <a:p>
            <a:pPr>
              <a:spcBef>
                <a:spcPts val="3500"/>
              </a:spcBef>
              <a:defRPr sz="1250">
                <a:solidFill>
                  <a:srgbClr val="94A3B8"/>
                </a:solidFill>
              </a:defRPr>
            </a:pPr>
            <a:r>
              <a:t>Candidate / Student Name: [PASTE YOUR NAME HERE]</a:t>
            </a:r>
            <a:br/>
            <a:r>
              <a:t>Evaluated Against: Assignment 3 Ground Truth Data Pack (Date: 23 September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1 • PROBLEM CONTEXT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Airline Disruption Challenge &amp; Automated Resolution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700" b="1">
                <a:solidFill>
                  <a:srgbClr val="DC2626"/>
                </a:solidFill>
              </a:defRPr>
            </a:pPr>
            <a:r>
              <a:t>Current Disruption Pain Points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High Friction &amp; Long Wait Times: Flight cancellations and multi-hour delays cause extreme passenger surge at airport desks and contact centers.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Unpredictable Agent Hallucinations: Standard generative LLMs hallucinate policies, promising unwarranted upgrades or illegal refunds.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Compliance &amp; Financial Leakage: Frontline errors in waiving fare differences or approving unauthorized hotel stays lead to major revenue loss.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Lack of Auditability: Traditional chatbots fail to produce clear compliance traces explaining why a compensation benefit was granted or denied.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700" b="1">
                <a:solidFill>
                  <a:srgbClr val="059669"/>
                </a:solidFill>
              </a:defRPr>
            </a:pPr>
            <a:r>
              <a:t>AirResolve Solution Architecture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✔ Deterministic Policy Engine: Business rules are codified in pure Python logic as the single, uncompromised source of truth.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✔ Empathetic Yet Gated AI: The conversational layer understands natural language and user frustration, but cannot override policies.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✔ Transparent Audit Trail: Every response includes a complete decision trace showing customer, booking status, and policy evaluation steps.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✔ Proactive Guardrails &amp; Escalation: Automatically escalates legal threats, complaints, and waivers exceeding the ₹1,500 agent threshold.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2 • OPERATIONAL CONTEXT (23 SEP 2026)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Assignment 3 Data Pack Ground Truth &amp; Profiles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37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Priya Nair</a:t>
            </a:r>
          </a:p>
          <a:p>
            <a:pPr>
              <a:defRPr sz="1100" b="1">
                <a:solidFill>
                  <a:srgbClr val="008DDA"/>
                </a:solidFill>
              </a:defRPr>
            </a:pPr>
            <a:r>
              <a:t>Tier: Gold  |  PNR: SK4821X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Route: Delhi → Goa (SK-204)</a:t>
            </a:r>
          </a:p>
          <a:p>
            <a:pPr>
              <a:spcBef>
                <a:spcPts val="400"/>
              </a:spcBef>
              <a:defRPr sz="1150" b="1">
                <a:solidFill>
                  <a:srgbClr val="DC2626"/>
                </a:solidFill>
              </a:defRPr>
            </a:pPr>
            <a:r>
              <a:t>Disruption: Cancelled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Context: Operational reasons. Return flight (25 Sep) unaffected.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Passenger Request:</a:t>
            </a:r>
          </a:p>
          <a:p>
            <a:pPr>
              <a:defRPr sz="1050" i="1">
                <a:solidFill>
                  <a:srgbClr val="1E3E62"/>
                </a:solidFill>
              </a:defRPr>
            </a:pPr>
            <a:r>
              <a:t>"Requests full cash refund + complimentary Business Class upgrade on return flight."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737360"/>
            <a:ext cx="3337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Arvind Kulkarni</a:t>
            </a:r>
          </a:p>
          <a:p>
            <a:pPr>
              <a:defRPr sz="1100" b="1">
                <a:solidFill>
                  <a:srgbClr val="008DDA"/>
                </a:solidFill>
              </a:defRPr>
            </a:pPr>
            <a:r>
              <a:t>Tier: Silver  |  PNR: TR1190B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Route: Mumbai → Bengaluru (SK-118)</a:t>
            </a:r>
          </a:p>
          <a:p>
            <a:pPr>
              <a:spcBef>
                <a:spcPts val="400"/>
              </a:spcBef>
              <a:defRPr sz="1150" b="1">
                <a:solidFill>
                  <a:srgbClr val="D97706"/>
                </a:solidFill>
              </a:defRPr>
            </a:pPr>
            <a:r>
              <a:t>Disruption: Delayed 4h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Context: New departure: 11:10 (Original: 07:10). Missed connecting meeting.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Passenger Request:</a:t>
            </a:r>
          </a:p>
          <a:p>
            <a:pPr>
              <a:defRPr sz="1050" i="1">
                <a:solidFill>
                  <a:srgbClr val="1E3E62"/>
                </a:solidFill>
              </a:defRPr>
            </a:pPr>
            <a:r>
              <a:t>"Requests hotel accommodation for the 4-hour delay."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1" y="1737360"/>
            <a:ext cx="3337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Meher Kaur</a:t>
            </a:r>
          </a:p>
          <a:p>
            <a:pPr>
              <a:defRPr sz="1100" b="1">
                <a:solidFill>
                  <a:srgbClr val="008DDA"/>
                </a:solidFill>
              </a:defRPr>
            </a:pPr>
            <a:r>
              <a:t>Tier: Platinum  |  PNR: WL7742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Route: Delhi → Hyderabad (SK-305)</a:t>
            </a:r>
          </a:p>
          <a:p>
            <a:pPr>
              <a:spcBef>
                <a:spcPts val="400"/>
              </a:spcBef>
              <a:defRPr sz="1150" b="1">
                <a:solidFill>
                  <a:srgbClr val="1E3E62"/>
                </a:solidFill>
              </a:defRPr>
            </a:pPr>
            <a:r>
              <a:t>Disruption: Delayed 6h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Context: New departure: 20:00 (Original: 14:00). High-tier flyer (10 flights).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</a:defRPr>
            </a:pPr>
            <a:r>
              <a:t>Passenger Request:</a:t>
            </a:r>
          </a:p>
          <a:p>
            <a:pPr>
              <a:defRPr sz="1050" i="1">
                <a:solidFill>
                  <a:srgbClr val="1E3E62"/>
                </a:solidFill>
              </a:defRPr>
            </a:pPr>
            <a:r>
              <a:t>"Requests full night's hotel stay + voluntary rebooking on higher-fare flight (₹2,000 diff)."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3 • POLICY FRAMEWORK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Deterministic Business &amp; Service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Cancellation Rebooking Rule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If flight is cancelled by airline, customer entitled to free rebooking within 24h OR full refund (customer's choice).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1E3E62"/>
                </a:solidFill>
              </a:defRPr>
            </a:pPr>
            <a:r>
              <a:t>Delay Compensation Rule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&lt; 3h: ₹500 meal voucher</a:t>
            </a:r>
            <a:br/>
            <a:r>
              <a:t>• 3h-5h: ₹500 meal voucher + lounge access</a:t>
            </a:r>
            <a:br/>
            <a:r>
              <a:t>• &gt; 5h: Meal voucher + lounge + hotel covering ONLY delayed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Refund Processing Rule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Refunds for airline-caused disruptions are processed in full within 7 business days to original payment method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1E3E62"/>
                </a:solidFill>
              </a:defRPr>
            </a:pPr>
            <a:r>
              <a:t>Fare Difference &amp; Loyalty Rules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• Voluntary rebooking: Fare diff &gt; ₹1,500 requires supervisor approval (strictly prohibited for agent).</a:t>
            </a:r>
            <a:br/>
            <a:r>
              <a:t>• Gold/Platinum: Priority rebooking only; NO additional compensation.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4 • SYSTEM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Complete AirResolve End-to-End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55357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0" y="1645920"/>
            <a:ext cx="277337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Key Principles</a:t>
            </a:r>
          </a:p>
          <a:p>
            <a:pPr>
              <a:spcBef>
                <a:spcPts val="800"/>
              </a:spcBef>
              <a:defRPr sz="1100" b="1">
                <a:solidFill>
                  <a:srgbClr val="008DDA"/>
                </a:solidFill>
              </a:defRPr>
            </a:pPr>
            <a:r>
              <a:t>Deterministic Gate: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Policy engine is pure Python logic; cannot be bypassed.</a:t>
            </a:r>
          </a:p>
          <a:p>
            <a:pPr>
              <a:spcBef>
                <a:spcPts val="800"/>
              </a:spcBef>
              <a:defRPr sz="1100" b="1">
                <a:solidFill>
                  <a:srgbClr val="008DDA"/>
                </a:solidFill>
              </a:defRPr>
            </a:pPr>
            <a:r>
              <a:t>No Policy Override: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LLM extracts intent but cannot relax or invent rules.</a:t>
            </a:r>
          </a:p>
          <a:p>
            <a:pPr>
              <a:spcBef>
                <a:spcPts val="800"/>
              </a:spcBef>
              <a:defRPr sz="1100" b="1">
                <a:solidFill>
                  <a:srgbClr val="008DDA"/>
                </a:solidFill>
              </a:defRPr>
            </a:pPr>
            <a:r>
              <a:t>Strict Thresholds: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Hotel strictly &gt; 5h; waiver ceiling strictly ₹1,500.</a:t>
            </a:r>
          </a:p>
          <a:p>
            <a:pPr>
              <a:spcBef>
                <a:spcPts val="800"/>
              </a:spcBef>
              <a:defRPr sz="1100" b="1">
                <a:solidFill>
                  <a:srgbClr val="008DDA"/>
                </a:solidFill>
              </a:defRPr>
            </a:pPr>
            <a:r>
              <a:t>Structured Decisions: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Every output yields a structured audit record with rule 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5 • DECISION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Decision Flow &amp; Policy Evaluation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B192C"/>
                </a:solidFill>
              </a:defRPr>
            </a:pPr>
            <a:r>
              <a:t>1. Passenger Identification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Matches PNR or Name to customer profile. Retrieves loyalty tier and past travel/complaint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33472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1E3E62"/>
                </a:solidFill>
              </a:defRPr>
            </a:pPr>
            <a:r>
              <a:t>2. Booking Verification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Checks flight segment status (Cancelled, Delayed 4h, Delayed 6h). Validates airline-caused disruption.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29584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B192C"/>
                </a:solidFill>
              </a:defRPr>
            </a:pPr>
            <a:r>
              <a:t>3. Intent &amp; Entity Extraction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Identifies primary intent (Refund, Hotel, Upgrade, Rebook, Fare diff) and amounts (e.g. ₹2,000, full-night).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25696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1E3E62"/>
                </a:solidFill>
              </a:defRPr>
            </a:pPr>
            <a:r>
              <a:t>4. Policy Engine Evaluation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Executes deterministic Python rule functions against parameters. Identifies allowed vs prohibited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21808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00" b="1">
                <a:solidFill>
                  <a:srgbClr val="008DDA"/>
                </a:solidFill>
              </a:defRPr>
            </a:pPr>
            <a:r>
              <a:t>5. Guardrail &amp; Decision Gate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RESOLVE: Executes refund/vouchers.</a:t>
            </a:r>
            <a:br/>
            <a:r>
              <a:t>CLARIFY: Prompts customer choice.</a:t>
            </a:r>
            <a:br/>
            <a:r>
              <a:t>ESCALATE: Routes to supervisor.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6 • SCENARIO VERIFICATION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Scenario 1: Priya Nair (Gold, SK4821X)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Disruption Context &amp; Customer Request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Flight: SK-204 (Delhi → Goa) Cancelled for operational reasons.</a:t>
            </a:r>
            <a:br/>
            <a:r>
              <a:t>• Return: SK-205 (Goa → Delhi, 25 Sep) is Unaffected.</a:t>
            </a:r>
            <a:br/>
            <a:r>
              <a:t>• Customer State: Furious.</a:t>
            </a:r>
            <a:br/>
            <a:r>
              <a:t>• Requests: Full cash refund + complimentary upgrade to Business Class on return flight 'for the trouble'.</a:t>
            </a:r>
          </a:p>
          <a:p>
            <a:pPr>
              <a:spcBef>
                <a:spcPts val="2000"/>
              </a:spcBef>
              <a:defRPr sz="1300" b="1">
                <a:solidFill>
                  <a:srgbClr val="DC2626"/>
                </a:solidFill>
              </a:defRPr>
            </a:pPr>
            <a:r>
              <a:t>Immediate Escalation Trigger Test: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If Priya threatens legal action or files a formal complaint, the agent immediately halts automated processing and triggers specialist escalation.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Agent Behavior &amp; Policy Rationale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1. Full Refund Approved (RESOLVED):</a:t>
            </a:r>
            <a:br/>
            <a:r>
              <a:t>   Processed in full within 7 business days to original payment method per Refund Processing Rule.</a:t>
            </a:r>
            <a:br/>
            <a:br/>
            <a:r>
              <a:t>2. Free Business Upgrade REFUSED (INELIGIBLE):</a:t>
            </a:r>
            <a:br/>
            <a:r>
              <a:t>   Policy strictly does NOT provide complimentary cabin upgrades for flight disruptions or loyalty tiers. Gold tier grants priority rebooking, not free upgrades.</a:t>
            </a:r>
            <a:br/>
            <a:br/>
            <a:r>
              <a:t>3. Empathetic Tone:</a:t>
            </a:r>
            <a:br/>
            <a:r>
              <a:t>   Validates frustration while upholding absolute compliance with policy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6 • SCENARIO VERIFICATION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Scenario 2: Arvind Kulkarni (Silver, TR1190B)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Disruption Context &amp; Customer Request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Flight: SK-118 (Mumbai → Bengaluru).</a:t>
            </a:r>
            <a:br/>
            <a:r>
              <a:t>• Status: Delayed 4 hours (New departure: 11:10, Original: 07:10).</a:t>
            </a:r>
            <a:br/>
            <a:r>
              <a:t>• Customer State: Frustrated about missing a connecting meeting.</a:t>
            </a:r>
            <a:br/>
            <a:r>
              <a:t>• Request: Demands hotel accommodation 'since it's been such a long delay'.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Agent Behavior &amp; Policy Rationale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1. Delay Benefits Issued (RESOLVED):</a:t>
            </a:r>
            <a:br/>
            <a:r>
              <a:t>   4-hour delay (&gt; 3 hours, &lt;= 5 hours) entitles customer to ₹500 meal voucher and lounge access. Both are applied automatically.</a:t>
            </a:r>
            <a:br/>
            <a:br/>
            <a:r>
              <a:t>2. Hotel Accommodation DENIED (INELIGIBLE):</a:t>
            </a:r>
            <a:br/>
            <a:r>
              <a:t>   Delay Compensation Rule strictly states hotel accommodation applies ONLY to delays exceeding 5 hours. At 4 hours, Arvind is not eligible.</a:t>
            </a:r>
            <a:br/>
            <a:br/>
            <a:r>
              <a:t>3. Zero False Promises:</a:t>
            </a:r>
            <a:br/>
            <a:r>
              <a:t>   Agent explains the policy boundary transparently without capitulating to pressure.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6 • SCENARIO VERIFICATION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Scenario 3: Meher Kaur (Platinum, WL7742)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B192C"/>
                </a:solidFill>
              </a:defRPr>
            </a:pPr>
            <a:r>
              <a:t>Disruption Context &amp; Customer Requests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Flight: SK-305 (Delhi → Hyderabad).</a:t>
            </a:r>
            <a:br/>
            <a:r>
              <a:t>• Status: Delayed 6 hours (New departure: 20:00, Original: 14:00).</a:t>
            </a:r>
            <a:br/>
            <a:r>
              <a:t>• Customer: Platinum Tier frequent flyer (10 flights past year).</a:t>
            </a:r>
            <a:br/>
            <a:r>
              <a:t>• Request 1: Full night's hotel stay (rather than coverage for just delayed hours).</a:t>
            </a:r>
            <a:br/>
            <a:r>
              <a:t>• Request 2: Voluntary rebooking to different, higher-fare flight with ₹2,000 fare difference.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Agent Behavior &amp; Escalation Rationale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1. Delay Benefits &amp; Partial Hotel (RESOLVED):</a:t>
            </a:r>
            <a:br/>
            <a:r>
              <a:t>   6-hour delay (&gt; 5h) qualifies for ₹500 meal voucher, lounge access, and hotel accommodation covering ONLY delayed hours (until 20:00 departure). Full night stay is refused as it exceeds policy scope.</a:t>
            </a:r>
            <a:br/>
            <a:br/>
            <a:r>
              <a:t>2. Mandatory Escalation on ₹2,000 Fare Diff (ESCALATE):</a:t>
            </a:r>
            <a:br/>
            <a:r>
              <a:t>   Fare Difference Rule: Agents CANNOT waive fare differences above ₹1,500 without supervisor approval.</a:t>
            </a:r>
            <a:br/>
            <a:r>
              <a:t>   Because ₹2,000 &gt; ₹1,500, the agent creates an Escalation Ticket (ESC-WL7742-XXXX) for supervisor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64592"/>
          <a:lstStyle/>
          <a:p>
            <a:pPr algn="ctr">
              <a:defRPr sz="1000" b="1">
                <a:solidFill>
                  <a:srgbClr val="008DDA"/>
                </a:solidFill>
              </a:defRPr>
            </a:pPr>
            <a:r>
              <a:t>PHASE 7 • DELIVERABLES &amp; VERIFICATION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Implementation, Testing, Demo &amp; GitHub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4231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Tech Stack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Python 3.11</a:t>
            </a:r>
            <a:br/>
            <a:r>
              <a:t>• Streamlit (Modern Custom UI)</a:t>
            </a:r>
            <a:br/>
            <a:r>
              <a:t>• Deterministic Policy Engine</a:t>
            </a:r>
            <a:br/>
            <a:r>
              <a:t>• Pytest (100% Passing)</a:t>
            </a:r>
            <a:br/>
            <a:r>
              <a:t>• python-pptx / Matplotlib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11296" y="1737360"/>
            <a:ext cx="24231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Test Suite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28 Automated Tests</a:t>
            </a:r>
            <a:br/>
            <a:r>
              <a:t>• 100% scenario coverage</a:t>
            </a:r>
            <a:br/>
            <a:r>
              <a:t>• Cancellation, delay brackets</a:t>
            </a:r>
            <a:br/>
            <a:r>
              <a:t>• ₹1,500 waiver boundary</a:t>
            </a:r>
            <a:br/>
            <a:r>
              <a:t>• Legal threat escalation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737360"/>
            <a:ext cx="24231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Deliverables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Streamlit App (app.py)</a:t>
            </a:r>
            <a:br/>
            <a:r>
              <a:t>• Exact 10-Slide PPT</a:t>
            </a:r>
            <a:br/>
            <a:r>
              <a:t>• Architecture Diagram</a:t>
            </a:r>
            <a:br/>
            <a:r>
              <a:t>• Demo Script (3-5 min)</a:t>
            </a:r>
            <a:br/>
            <a:r>
              <a:t>• Technical Defense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70848" y="1737360"/>
            <a:ext cx="24231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0B192C"/>
                </a:solidFill>
              </a:defRPr>
            </a:pPr>
            <a:r>
              <a:t>Demo &amp; GitHub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GitHub: github.com/USER/REPO</a:t>
            </a:r>
            <a:br/>
            <a:r>
              <a:t>• Public Demo Video: Google Drive link placeholder</a:t>
            </a:r>
            <a:br/>
            <a:r>
              <a:t>• One-Command Local Run:</a:t>
            </a:r>
            <a:br/>
            <a:r>
              <a:t> 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